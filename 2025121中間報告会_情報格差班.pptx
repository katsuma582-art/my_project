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5" r:id="rId5"/>
    <p:sldId id="266" r:id="rId6"/>
    <p:sldId id="268" r:id="rId7"/>
    <p:sldId id="267" r:id="rId8"/>
    <p:sldId id="259" r:id="rId9"/>
    <p:sldId id="263" r:id="rId10"/>
    <p:sldId id="262" r:id="rId11"/>
    <p:sldId id="260" r:id="rId12"/>
    <p:sldId id="261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339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966" y="348919"/>
            <a:ext cx="11616069" cy="1456267"/>
          </a:xfrm>
          <a:solidFill>
            <a:schemeClr val="tx1"/>
          </a:solidFill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966" y="1929416"/>
            <a:ext cx="11616069" cy="4232531"/>
          </a:xfrm>
          <a:solidFill>
            <a:schemeClr val="tx1"/>
          </a:solidFill>
        </p:spPr>
        <p:txBody>
          <a:bodyPr anchor="t">
            <a:normAutofit/>
          </a:bodyPr>
          <a:lstStyle>
            <a:lvl1pPr>
              <a:buNone/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9070" y="6320168"/>
            <a:ext cx="551167" cy="377825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F77213-4FD9-4386-A4C9-1AD8F385687F}" type="slidenum">
              <a:rPr kumimoji="1" lang="ja-JP" altLang="en-US" smtClean="0"/>
              <a:pPr/>
              <a:t>‹#›</a:t>
            </a:fld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788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52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30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87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79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1639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83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80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63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29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6412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667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423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5359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1363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42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F14C75-8F23-41D4-A7BC-71D5BB9ABB52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F77213-4FD9-4386-A4C9-1AD8F38568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6269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CBDDA1-675E-CB7E-4B91-89B3A9F24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60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20251219 </a:t>
            </a:r>
            <a:r>
              <a:rPr kumimoji="1" lang="ja-JP" altLang="en-US" sz="6000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44A69C6-7059-6000-E368-F49DCDFB12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野間・傘・三谷</a:t>
            </a:r>
          </a:p>
        </p:txBody>
      </p:sp>
    </p:spTree>
    <p:extLst>
      <p:ext uri="{BB962C8B-B14F-4D97-AF65-F5344CB8AC3E}">
        <p14:creationId xmlns:p14="http://schemas.microsoft.com/office/powerpoint/2010/main" val="226239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0B5EB4-38E9-8220-AD4E-2C8D1CA3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6" y="266623"/>
            <a:ext cx="11616069" cy="1456267"/>
          </a:xfrm>
        </p:spPr>
        <p:txBody>
          <a:bodyPr/>
          <a:lstStyle/>
          <a:p>
            <a:r>
              <a:rPr lang="ja-JP" altLang="en-US" dirty="0"/>
              <a:t>活動内容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CA2125-B33E-829C-7FE4-C55051BE0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kumimoji="1" lang="ja-JP" altLang="en-US" dirty="0"/>
              <a:t>・</a:t>
            </a:r>
            <a:r>
              <a:rPr lang="ja-JP" altLang="en-US" dirty="0"/>
              <a:t>硬貨検出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・財布の中身把握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・お金クイズ</a:t>
            </a:r>
          </a:p>
        </p:txBody>
      </p:sp>
    </p:spTree>
    <p:extLst>
      <p:ext uri="{BB962C8B-B14F-4D97-AF65-F5344CB8AC3E}">
        <p14:creationId xmlns:p14="http://schemas.microsoft.com/office/powerpoint/2010/main" val="1417455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2F7D96-7B74-4202-EB28-9BB85D3E3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硬貨検出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67BD10-36CA-758A-DF5E-D521E1F86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>
                <a:ea typeface="ＭＳ Ｐゴシック"/>
                <a:cs typeface="Calibri" panose="020F0502020204030204"/>
              </a:rPr>
              <a:t>・日本硬貨の画像をAIに学習させる。</a:t>
            </a:r>
          </a:p>
          <a:p>
            <a:pPr>
              <a:lnSpc>
                <a:spcPct val="150000"/>
              </a:lnSpc>
            </a:pPr>
            <a:r>
              <a:rPr kumimoji="1" lang="ja-JP" altLang="en-US" dirty="0">
                <a:ea typeface="ＭＳ Ｐゴシック"/>
              </a:rPr>
              <a:t>・財布の</a:t>
            </a:r>
            <a:r>
              <a:rPr lang="ja-JP" altLang="en-US" dirty="0">
                <a:ea typeface="ＭＳ Ｐゴシック"/>
              </a:rPr>
              <a:t>中身</a:t>
            </a:r>
            <a:r>
              <a:rPr kumimoji="1" lang="ja-JP" altLang="en-US" dirty="0">
                <a:ea typeface="ＭＳ Ｐゴシック"/>
              </a:rPr>
              <a:t>の写真を撮り、</a:t>
            </a:r>
            <a:r>
              <a:rPr kumimoji="1" lang="en-US" altLang="ja-JP" dirty="0">
                <a:ea typeface="ＭＳ Ｐゴシック"/>
              </a:rPr>
              <a:t>AI</a:t>
            </a:r>
            <a:r>
              <a:rPr kumimoji="1" lang="ja-JP" altLang="en-US" dirty="0">
                <a:ea typeface="ＭＳ Ｐゴシック"/>
              </a:rPr>
              <a:t>で認識させる。</a:t>
            </a:r>
            <a:endParaRPr lang="en-US" altLang="ja-JP" dirty="0">
              <a:ea typeface="ＭＳ Ｐゴシック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ja-JP" altLang="en-US" dirty="0">
                <a:ea typeface="ＭＳ Ｐゴシック"/>
                <a:cs typeface="Calibri"/>
              </a:rPr>
              <a:t>　→その場で簡単に手持ちのお金を把握することができる。</a:t>
            </a:r>
          </a:p>
          <a:p>
            <a:pPr>
              <a:lnSpc>
                <a:spcPct val="150000"/>
              </a:lnSpc>
            </a:pPr>
            <a:endParaRPr lang="ja-JP" altLang="en-US" dirty="0">
              <a:ea typeface="ＭＳ Ｐゴシック" panose="020B0600070205080204" pitchFamily="34" charset="-128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6963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AEFD7-29C4-CAAD-E692-87233956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FE17BC0-FC47-60E4-F368-6C62D5A00EEE}"/>
              </a:ext>
            </a:extLst>
          </p:cNvPr>
          <p:cNvSpPr txBox="1"/>
          <p:nvPr/>
        </p:nvSpPr>
        <p:spPr>
          <a:xfrm>
            <a:off x="475488" y="228600"/>
            <a:ext cx="11411712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ysClr val="windowText" lastClr="000000"/>
                </a:solidFill>
              </a:rPr>
              <a:t>硬貨検出</a:t>
            </a:r>
            <a:r>
              <a:rPr kumimoji="1" lang="en-US" altLang="ja-JP" sz="4400" b="1" dirty="0">
                <a:solidFill>
                  <a:sysClr val="windowText" lastClr="000000"/>
                </a:solidFill>
              </a:rPr>
              <a:t>:</a:t>
            </a:r>
            <a:r>
              <a:rPr kumimoji="1" lang="ja-JP" altLang="en-US" sz="4400" b="1" dirty="0">
                <a:solidFill>
                  <a:sysClr val="windowText" lastClr="000000"/>
                </a:solidFill>
              </a:rPr>
              <a:t>構成</a:t>
            </a:r>
            <a:endParaRPr kumimoji="1" lang="en-US" altLang="ja-JP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6FE38E-35EE-04F8-425C-656724CC768B}"/>
              </a:ext>
            </a:extLst>
          </p:cNvPr>
          <p:cNvSpPr txBox="1"/>
          <p:nvPr/>
        </p:nvSpPr>
        <p:spPr>
          <a:xfrm>
            <a:off x="475488" y="1234440"/>
            <a:ext cx="11411712" cy="550920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chemeClr val="bg1"/>
                </a:solidFill>
              </a:rPr>
              <a:t>&lt; </a:t>
            </a:r>
            <a:r>
              <a:rPr kumimoji="1" lang="ja-JP" altLang="en-US" sz="3200" dirty="0">
                <a:solidFill>
                  <a:schemeClr val="bg1"/>
                </a:solidFill>
              </a:rPr>
              <a:t>モデル</a:t>
            </a:r>
            <a:r>
              <a:rPr kumimoji="1" lang="en-US" altLang="ja-JP" sz="3200" dirty="0">
                <a:solidFill>
                  <a:schemeClr val="bg1"/>
                </a:solidFill>
              </a:rPr>
              <a:t> :  </a:t>
            </a:r>
            <a:r>
              <a:rPr kumimoji="1" lang="en-US" altLang="ja-JP" sz="3200" dirty="0">
                <a:solidFill>
                  <a:srgbClr val="FF0000"/>
                </a:solidFill>
              </a:rPr>
              <a:t>YOLO11x</a:t>
            </a:r>
          </a:p>
          <a:p>
            <a:endParaRPr kumimoji="1" lang="en-US" altLang="ja-JP" sz="3200" dirty="0">
              <a:solidFill>
                <a:srgbClr val="FF0000"/>
              </a:solidFill>
            </a:endParaRPr>
          </a:p>
          <a:p>
            <a:r>
              <a:rPr kumimoji="1" lang="en-US" altLang="ja-JP" sz="3200" dirty="0">
                <a:solidFill>
                  <a:schemeClr val="bg1"/>
                </a:solidFill>
              </a:rPr>
              <a:t>&lt; </a:t>
            </a:r>
            <a:r>
              <a:rPr kumimoji="1" lang="ja-JP" altLang="en-US" sz="3200" dirty="0">
                <a:solidFill>
                  <a:schemeClr val="bg1"/>
                </a:solidFill>
              </a:rPr>
              <a:t>データセット </a:t>
            </a:r>
            <a:r>
              <a:rPr kumimoji="1" lang="en-US" altLang="ja-JP" sz="3200" dirty="0">
                <a:solidFill>
                  <a:schemeClr val="bg1"/>
                </a:solidFill>
              </a:rPr>
              <a:t>: </a:t>
            </a:r>
            <a:r>
              <a:rPr kumimoji="1" lang="ja-JP" altLang="en-US" sz="3200" dirty="0">
                <a:solidFill>
                  <a:schemeClr val="bg1"/>
                </a:solidFill>
              </a:rPr>
              <a:t>ネット画像</a:t>
            </a:r>
            <a:r>
              <a:rPr kumimoji="1" lang="en-US" altLang="ja-JP" sz="3200" dirty="0">
                <a:solidFill>
                  <a:schemeClr val="bg1"/>
                </a:solidFill>
              </a:rPr>
              <a:t>,</a:t>
            </a:r>
            <a:r>
              <a:rPr kumimoji="1" lang="ja-JP" altLang="en-US" sz="3200" dirty="0">
                <a:solidFill>
                  <a:schemeClr val="bg1"/>
                </a:solidFill>
              </a:rPr>
              <a:t>自前の混合</a:t>
            </a:r>
            <a:r>
              <a:rPr kumimoji="1" lang="en-US" altLang="ja-JP" sz="3200" dirty="0">
                <a:solidFill>
                  <a:srgbClr val="FF0000"/>
                </a:solidFill>
              </a:rPr>
              <a:t>68</a:t>
            </a:r>
            <a:r>
              <a:rPr kumimoji="1" lang="ja-JP" altLang="en-US" sz="3200" dirty="0">
                <a:solidFill>
                  <a:schemeClr val="bg1"/>
                </a:solidFill>
              </a:rPr>
              <a:t>枚</a:t>
            </a:r>
            <a:r>
              <a:rPr kumimoji="1" lang="en-US" altLang="ja-JP" sz="3200" dirty="0">
                <a:solidFill>
                  <a:schemeClr val="bg1"/>
                </a:solidFill>
              </a:rPr>
              <a:t>(negative sample </a:t>
            </a:r>
            <a:r>
              <a:rPr kumimoji="1" lang="ja-JP" altLang="en-US" sz="3200" dirty="0">
                <a:solidFill>
                  <a:schemeClr val="bg1"/>
                </a:solidFill>
              </a:rPr>
              <a:t>含む</a:t>
            </a:r>
            <a:r>
              <a:rPr kumimoji="1" lang="en-US" altLang="ja-JP" sz="3200" dirty="0">
                <a:solidFill>
                  <a:schemeClr val="bg1"/>
                </a:solidFill>
              </a:rPr>
              <a:t>)</a:t>
            </a:r>
          </a:p>
          <a:p>
            <a:endParaRPr kumimoji="1" lang="en-US" altLang="ja-JP" sz="3200" dirty="0">
              <a:solidFill>
                <a:schemeClr val="bg1"/>
              </a:solidFill>
            </a:endParaRPr>
          </a:p>
          <a:p>
            <a:r>
              <a:rPr kumimoji="1" lang="en-US" altLang="ja-JP" sz="3200" dirty="0">
                <a:solidFill>
                  <a:schemeClr val="bg1"/>
                </a:solidFill>
              </a:rPr>
              <a:t>&lt; </a:t>
            </a:r>
            <a:r>
              <a:rPr kumimoji="1" lang="ja-JP" altLang="en-US" sz="3200" dirty="0">
                <a:solidFill>
                  <a:schemeClr val="bg1"/>
                </a:solidFill>
              </a:rPr>
              <a:t>データ拡張 </a:t>
            </a:r>
            <a:r>
              <a:rPr kumimoji="1" lang="en-US" altLang="ja-JP" sz="3200" dirty="0">
                <a:solidFill>
                  <a:schemeClr val="bg1"/>
                </a:solidFill>
              </a:rPr>
              <a:t>: </a:t>
            </a:r>
            <a:r>
              <a:rPr kumimoji="1" lang="ja-JP" altLang="en-US" sz="3200" dirty="0">
                <a:solidFill>
                  <a:schemeClr val="bg1"/>
                </a:solidFill>
              </a:rPr>
              <a:t>ぼかし</a:t>
            </a:r>
            <a:r>
              <a:rPr kumimoji="1" lang="en-US" altLang="ja-JP" sz="3200" dirty="0">
                <a:solidFill>
                  <a:schemeClr val="bg1"/>
                </a:solidFill>
              </a:rPr>
              <a:t>,</a:t>
            </a:r>
            <a:r>
              <a:rPr kumimoji="1" lang="ja-JP" altLang="en-US" sz="3200" dirty="0">
                <a:solidFill>
                  <a:schemeClr val="bg1"/>
                </a:solidFill>
              </a:rPr>
              <a:t>欠落</a:t>
            </a:r>
            <a:r>
              <a:rPr kumimoji="1" lang="en-US" altLang="ja-JP" sz="3200" dirty="0">
                <a:solidFill>
                  <a:schemeClr val="bg1"/>
                </a:solidFill>
              </a:rPr>
              <a:t>,</a:t>
            </a:r>
            <a:r>
              <a:rPr kumimoji="1" lang="ja-JP" altLang="en-US" sz="3200" dirty="0">
                <a:solidFill>
                  <a:schemeClr val="bg1"/>
                </a:solidFill>
              </a:rPr>
              <a:t>切り取り</a:t>
            </a:r>
            <a:r>
              <a:rPr kumimoji="1" lang="en-US" altLang="ja-JP" sz="3200" dirty="0">
                <a:solidFill>
                  <a:schemeClr val="bg1"/>
                </a:solidFill>
              </a:rPr>
              <a:t>,</a:t>
            </a:r>
            <a:r>
              <a:rPr kumimoji="1" lang="ja-JP" altLang="en-US" sz="3200" dirty="0">
                <a:solidFill>
                  <a:schemeClr val="bg1"/>
                </a:solidFill>
              </a:rPr>
              <a:t>モザイク</a:t>
            </a:r>
            <a:r>
              <a:rPr kumimoji="1" lang="en-US" altLang="ja-JP" sz="3200" dirty="0">
                <a:solidFill>
                  <a:schemeClr val="bg1"/>
                </a:solidFill>
              </a:rPr>
              <a:t>,</a:t>
            </a:r>
            <a:r>
              <a:rPr kumimoji="1" lang="ja-JP" altLang="en-US" sz="3200" dirty="0">
                <a:solidFill>
                  <a:schemeClr val="bg1"/>
                </a:solidFill>
              </a:rPr>
              <a:t>色変化</a:t>
            </a:r>
            <a:r>
              <a:rPr kumimoji="1" lang="en-US" altLang="ja-JP" sz="3200" dirty="0">
                <a:solidFill>
                  <a:schemeClr val="bg1"/>
                </a:solidFill>
              </a:rPr>
              <a:t>,</a:t>
            </a:r>
            <a:r>
              <a:rPr kumimoji="1" lang="ja-JP" altLang="en-US" sz="3200" dirty="0">
                <a:solidFill>
                  <a:schemeClr val="bg1"/>
                </a:solidFill>
              </a:rPr>
              <a:t>色欠落</a:t>
            </a:r>
            <a:endParaRPr kumimoji="1" lang="en-US" altLang="ja-JP" sz="3200" dirty="0">
              <a:solidFill>
                <a:schemeClr val="bg1"/>
              </a:solidFill>
            </a:endParaRPr>
          </a:p>
          <a:p>
            <a:r>
              <a:rPr kumimoji="1" lang="en-US" altLang="ja-JP" sz="3200" dirty="0">
                <a:solidFill>
                  <a:schemeClr val="bg1"/>
                </a:solidFill>
              </a:rPr>
              <a:t>					</a:t>
            </a:r>
            <a:r>
              <a:rPr kumimoji="1" lang="ja-JP" altLang="en-US" sz="3200" dirty="0">
                <a:solidFill>
                  <a:schemeClr val="bg1"/>
                </a:solidFill>
              </a:rPr>
              <a:t>→</a:t>
            </a:r>
            <a:r>
              <a:rPr kumimoji="1" lang="en-US" altLang="ja-JP" sz="3200" dirty="0">
                <a:solidFill>
                  <a:srgbClr val="FF0000"/>
                </a:solidFill>
              </a:rPr>
              <a:t>348</a:t>
            </a:r>
            <a:r>
              <a:rPr kumimoji="1" lang="ja-JP" altLang="en-US" sz="3200" dirty="0">
                <a:solidFill>
                  <a:schemeClr val="bg1"/>
                </a:solidFill>
              </a:rPr>
              <a:t>枚の拡張</a:t>
            </a:r>
            <a:r>
              <a:rPr kumimoji="1" lang="en-US" altLang="ja-JP" sz="3200" dirty="0">
                <a:solidFill>
                  <a:schemeClr val="bg1"/>
                </a:solidFill>
              </a:rPr>
              <a:t>,</a:t>
            </a:r>
            <a:r>
              <a:rPr kumimoji="1" lang="ja-JP" altLang="en-US" sz="3200" dirty="0">
                <a:solidFill>
                  <a:schemeClr val="bg1"/>
                </a:solidFill>
              </a:rPr>
              <a:t>計</a:t>
            </a:r>
            <a:r>
              <a:rPr kumimoji="1" lang="en-US" altLang="ja-JP" sz="3200" dirty="0">
                <a:solidFill>
                  <a:schemeClr val="bg1"/>
                </a:solidFill>
              </a:rPr>
              <a:t>416</a:t>
            </a:r>
            <a:r>
              <a:rPr kumimoji="1" lang="ja-JP" altLang="en-US" sz="3200" dirty="0">
                <a:solidFill>
                  <a:schemeClr val="bg1"/>
                </a:solidFill>
              </a:rPr>
              <a:t>枚</a:t>
            </a:r>
            <a:r>
              <a:rPr kumimoji="1" lang="en-US" altLang="ja-JP" sz="3200" dirty="0">
                <a:solidFill>
                  <a:schemeClr val="bg1"/>
                </a:solidFill>
              </a:rPr>
              <a:t>(</a:t>
            </a:r>
            <a:r>
              <a:rPr kumimoji="1" lang="ja-JP" altLang="en-US" sz="3200" dirty="0">
                <a:solidFill>
                  <a:schemeClr val="bg1"/>
                </a:solidFill>
              </a:rPr>
              <a:t>ツール </a:t>
            </a:r>
            <a:r>
              <a:rPr kumimoji="1" lang="en-US" altLang="ja-JP" sz="3200" dirty="0">
                <a:solidFill>
                  <a:schemeClr val="bg1"/>
                </a:solidFill>
              </a:rPr>
              <a:t>: </a:t>
            </a:r>
            <a:r>
              <a:rPr kumimoji="1" lang="en-US" altLang="ja-JP" sz="3200" dirty="0" err="1">
                <a:solidFill>
                  <a:srgbClr val="FF0000"/>
                </a:solidFill>
              </a:rPr>
              <a:t>Albumentation</a:t>
            </a:r>
            <a:r>
              <a:rPr kumimoji="1" lang="en-US" altLang="ja-JP" sz="3200" dirty="0">
                <a:solidFill>
                  <a:schemeClr val="bg1"/>
                </a:solidFill>
              </a:rPr>
              <a:t>)</a:t>
            </a:r>
          </a:p>
          <a:p>
            <a:endParaRPr kumimoji="1" lang="en-US" altLang="ja-JP" sz="3200" dirty="0">
              <a:solidFill>
                <a:schemeClr val="bg1"/>
              </a:solidFill>
            </a:endParaRPr>
          </a:p>
          <a:p>
            <a:r>
              <a:rPr kumimoji="1" lang="en-US" altLang="ja-JP" sz="3200" dirty="0">
                <a:solidFill>
                  <a:schemeClr val="bg1"/>
                </a:solidFill>
              </a:rPr>
              <a:t>&lt; </a:t>
            </a:r>
            <a:r>
              <a:rPr kumimoji="1" lang="ja-JP" altLang="en-US" sz="3200" dirty="0">
                <a:solidFill>
                  <a:schemeClr val="bg1"/>
                </a:solidFill>
              </a:rPr>
              <a:t>データ分割 </a:t>
            </a:r>
            <a:r>
              <a:rPr kumimoji="1" lang="en-US" altLang="ja-JP" sz="3200" dirty="0">
                <a:solidFill>
                  <a:schemeClr val="bg1"/>
                </a:solidFill>
              </a:rPr>
              <a:t>: </a:t>
            </a:r>
            <a:r>
              <a:rPr kumimoji="1" lang="ja-JP" altLang="en-US" sz="3200" dirty="0">
                <a:solidFill>
                  <a:schemeClr val="bg1"/>
                </a:solidFill>
              </a:rPr>
              <a:t>訓練データ </a:t>
            </a:r>
            <a:r>
              <a:rPr kumimoji="1" lang="en-US" altLang="ja-JP" sz="3200" dirty="0">
                <a:solidFill>
                  <a:schemeClr val="bg1"/>
                </a:solidFill>
              </a:rPr>
              <a:t>: </a:t>
            </a:r>
            <a:r>
              <a:rPr kumimoji="1" lang="ja-JP" altLang="en-US" sz="3200" dirty="0">
                <a:solidFill>
                  <a:schemeClr val="bg1"/>
                </a:solidFill>
              </a:rPr>
              <a:t>検証データ </a:t>
            </a:r>
            <a:r>
              <a:rPr kumimoji="1" lang="en-US" altLang="ja-JP" sz="3200" dirty="0">
                <a:solidFill>
                  <a:schemeClr val="bg1"/>
                </a:solidFill>
              </a:rPr>
              <a:t>= </a:t>
            </a:r>
            <a:r>
              <a:rPr kumimoji="1" lang="en-US" altLang="ja-JP" sz="3200" dirty="0">
                <a:solidFill>
                  <a:srgbClr val="FF0000"/>
                </a:solidFill>
              </a:rPr>
              <a:t>4 : 1</a:t>
            </a:r>
            <a:r>
              <a:rPr kumimoji="1" lang="ja-JP" altLang="en-US" sz="3200" dirty="0">
                <a:solidFill>
                  <a:srgbClr val="FF0000"/>
                </a:solidFill>
              </a:rPr>
              <a:t> </a:t>
            </a:r>
            <a:r>
              <a:rPr kumimoji="1" lang="ja-JP" altLang="en-US" sz="3200" dirty="0">
                <a:solidFill>
                  <a:schemeClr val="bg1"/>
                </a:solidFill>
              </a:rPr>
              <a:t>で分割</a:t>
            </a:r>
            <a:endParaRPr kumimoji="1" lang="en-US" altLang="ja-JP" sz="3200" dirty="0">
              <a:solidFill>
                <a:schemeClr val="bg1"/>
              </a:solidFill>
            </a:endParaRPr>
          </a:p>
          <a:p>
            <a:endParaRPr kumimoji="1" lang="en-US" altLang="ja-JP" sz="3200" dirty="0">
              <a:solidFill>
                <a:schemeClr val="bg1"/>
              </a:solidFill>
            </a:endParaRPr>
          </a:p>
          <a:p>
            <a:r>
              <a:rPr kumimoji="1" lang="en-US" altLang="ja-JP" sz="3200" dirty="0">
                <a:solidFill>
                  <a:schemeClr val="bg1"/>
                </a:solidFill>
              </a:rPr>
              <a:t>&lt; </a:t>
            </a:r>
            <a:r>
              <a:rPr kumimoji="1" lang="ja-JP" altLang="en-US" sz="3200" dirty="0">
                <a:solidFill>
                  <a:schemeClr val="bg1"/>
                </a:solidFill>
              </a:rPr>
              <a:t>学習</a:t>
            </a:r>
            <a:r>
              <a:rPr kumimoji="1" lang="en-US" altLang="ja-JP" sz="3200" dirty="0">
                <a:solidFill>
                  <a:schemeClr val="bg1"/>
                </a:solidFill>
              </a:rPr>
              <a:t> : epoch=</a:t>
            </a:r>
            <a:r>
              <a:rPr kumimoji="1" lang="en-US" altLang="ja-JP" sz="3200" dirty="0">
                <a:solidFill>
                  <a:srgbClr val="FF0000"/>
                </a:solidFill>
              </a:rPr>
              <a:t>50,70,80 </a:t>
            </a:r>
            <a:r>
              <a:rPr kumimoji="1" lang="ja-JP" altLang="en-US" sz="3200" dirty="0">
                <a:solidFill>
                  <a:schemeClr val="bg1"/>
                </a:solidFill>
              </a:rPr>
              <a:t>で実証</a:t>
            </a:r>
            <a:endParaRPr kumimoji="1" lang="en-US" altLang="ja-JP" sz="3200" dirty="0">
              <a:solidFill>
                <a:schemeClr val="bg1"/>
              </a:solidFill>
            </a:endParaRPr>
          </a:p>
          <a:p>
            <a:endParaRPr kumimoji="1" lang="ja-JP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485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0593-C06D-3285-F728-336B7C50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F2C570-5876-D335-3246-965EC2ED3454}"/>
              </a:ext>
            </a:extLst>
          </p:cNvPr>
          <p:cNvSpPr txBox="1"/>
          <p:nvPr/>
        </p:nvSpPr>
        <p:spPr>
          <a:xfrm>
            <a:off x="475488" y="228600"/>
            <a:ext cx="11411712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ysClr val="windowText" lastClr="000000"/>
                </a:solidFill>
              </a:rPr>
              <a:t>硬貨検出 </a:t>
            </a:r>
            <a:r>
              <a:rPr kumimoji="1" lang="en-US" altLang="ja-JP" sz="4400" b="1" dirty="0">
                <a:solidFill>
                  <a:sysClr val="windowText" lastClr="000000"/>
                </a:solidFill>
              </a:rPr>
              <a:t>: </a:t>
            </a:r>
            <a:r>
              <a:rPr kumimoji="1" lang="ja-JP" altLang="en-US" sz="4400" b="1" dirty="0">
                <a:solidFill>
                  <a:sysClr val="windowText" lastClr="000000"/>
                </a:solidFill>
              </a:rPr>
              <a:t>学習結果</a:t>
            </a:r>
            <a:r>
              <a:rPr kumimoji="1" lang="en-US" altLang="ja-JP" sz="4400" b="1" dirty="0">
                <a:solidFill>
                  <a:sysClr val="windowText" lastClr="000000"/>
                </a:solidFill>
              </a:rPr>
              <a:t>(epoch=80)</a:t>
            </a:r>
          </a:p>
        </p:txBody>
      </p:sp>
      <p:pic>
        <p:nvPicPr>
          <p:cNvPr id="8" name="図 7" descr="グラフ, ウォーターフォール図&#10;&#10;AI 生成コンテンツは誤りを含む可能性があります。">
            <a:extLst>
              <a:ext uri="{FF2B5EF4-FFF2-40B4-BE49-F238E27FC236}">
                <a16:creationId xmlns:a16="http://schemas.microsoft.com/office/drawing/2014/main" id="{ECAF29C4-517E-7D66-BB37-376841C49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4" r="8877" b="4060"/>
          <a:stretch>
            <a:fillRect/>
          </a:stretch>
        </p:blipFill>
        <p:spPr>
          <a:xfrm>
            <a:off x="1571244" y="1080337"/>
            <a:ext cx="8634984" cy="590567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4651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6F6D-3272-E9FF-E313-12EB9091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77EBF7-2EF3-DE83-5393-10C51D56B914}"/>
              </a:ext>
            </a:extLst>
          </p:cNvPr>
          <p:cNvSpPr txBox="1"/>
          <p:nvPr/>
        </p:nvSpPr>
        <p:spPr>
          <a:xfrm>
            <a:off x="475488" y="228600"/>
            <a:ext cx="11411712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ysClr val="windowText" lastClr="000000"/>
                </a:solidFill>
              </a:rPr>
              <a:t>硬貨検出 </a:t>
            </a:r>
            <a:r>
              <a:rPr kumimoji="1" lang="en-US" altLang="ja-JP" sz="4400" b="1" dirty="0">
                <a:solidFill>
                  <a:sysClr val="windowText" lastClr="000000"/>
                </a:solidFill>
              </a:rPr>
              <a:t>: </a:t>
            </a:r>
            <a:r>
              <a:rPr kumimoji="1" lang="ja-JP" altLang="en-US" sz="4400" b="1" dirty="0">
                <a:solidFill>
                  <a:sysClr val="windowText" lastClr="000000"/>
                </a:solidFill>
              </a:rPr>
              <a:t>学習結果</a:t>
            </a:r>
            <a:r>
              <a:rPr kumimoji="1" lang="en-US" altLang="ja-JP" sz="4400" b="1" dirty="0">
                <a:solidFill>
                  <a:sysClr val="windowText" lastClr="000000"/>
                </a:solidFill>
              </a:rPr>
              <a:t>(epoch=80)</a:t>
            </a:r>
          </a:p>
        </p:txBody>
      </p:sp>
      <p:pic>
        <p:nvPicPr>
          <p:cNvPr id="16" name="図 15" descr="グラフ, 散布図">
            <a:extLst>
              <a:ext uri="{FF2B5EF4-FFF2-40B4-BE49-F238E27FC236}">
                <a16:creationId xmlns:a16="http://schemas.microsoft.com/office/drawing/2014/main" id="{13BE377B-7D2D-47BB-75A4-B6AF3A09F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" y="1135201"/>
            <a:ext cx="11411712" cy="560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18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76F52-3D3E-C2C4-8C1C-32E9380A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DB4737-CE01-42F3-4BFE-912C7BDF5F49}"/>
              </a:ext>
            </a:extLst>
          </p:cNvPr>
          <p:cNvSpPr txBox="1"/>
          <p:nvPr/>
        </p:nvSpPr>
        <p:spPr>
          <a:xfrm>
            <a:off x="475488" y="228600"/>
            <a:ext cx="11411712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ysClr val="windowText" lastClr="000000"/>
                </a:solidFill>
              </a:rPr>
              <a:t>硬貨検出 </a:t>
            </a:r>
            <a:r>
              <a:rPr kumimoji="1" lang="en-US" altLang="ja-JP" sz="4400" b="1" dirty="0">
                <a:solidFill>
                  <a:sysClr val="windowText" lastClr="000000"/>
                </a:solidFill>
              </a:rPr>
              <a:t>: </a:t>
            </a:r>
            <a:r>
              <a:rPr kumimoji="1" lang="ja-JP" altLang="en-US" sz="4400" b="1" dirty="0">
                <a:solidFill>
                  <a:sysClr val="windowText" lastClr="000000"/>
                </a:solidFill>
              </a:rPr>
              <a:t>学習結果</a:t>
            </a:r>
            <a:r>
              <a:rPr kumimoji="1" lang="en-US" altLang="ja-JP" sz="4400" b="1" dirty="0">
                <a:solidFill>
                  <a:sysClr val="windowText" lastClr="000000"/>
                </a:solidFill>
              </a:rPr>
              <a:t>(epoch=80)</a:t>
            </a:r>
          </a:p>
        </p:txBody>
      </p:sp>
      <p:pic>
        <p:nvPicPr>
          <p:cNvPr id="10" name="図 9" descr="ボック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ED02DB7-DEBC-40C9-18FE-EEBCAF442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229" y="1328056"/>
            <a:ext cx="4093028" cy="5399313"/>
          </a:xfrm>
          <a:prstGeom prst="rect">
            <a:avLst/>
          </a:prstGeom>
        </p:spPr>
      </p:pic>
      <p:pic>
        <p:nvPicPr>
          <p:cNvPr id="12" name="図 11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0A4F93A-E114-B969-CF5E-A2C8ECC58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8057"/>
            <a:ext cx="4169229" cy="5399314"/>
          </a:xfrm>
          <a:prstGeom prst="rect">
            <a:avLst/>
          </a:prstGeom>
        </p:spPr>
      </p:pic>
      <p:pic>
        <p:nvPicPr>
          <p:cNvPr id="14" name="図 13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BDF081C1-E272-4677-2947-C3A436A25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822" y="1328054"/>
            <a:ext cx="3969178" cy="539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B7084-F16F-BC5D-A405-DB317829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財布の中身把握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1F9FA2-E5C5-2B5A-8E42-88EE1BB31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/>
              <a:t>・現在持っている財布の中身をアプリに記憶させる。</a:t>
            </a:r>
            <a:endParaRPr lang="en-US" altLang="ja-JP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ja-JP" altLang="en-US">
                <a:ea typeface="ＭＳ Ｐゴシック"/>
              </a:rPr>
              <a:t>・紙幣や硬貨のイラストをドラッグ&amp;ドロップで入力する。</a:t>
            </a:r>
            <a:endParaRPr lang="ja-JP" altLang="en-US" dirty="0">
              <a:ea typeface="ＭＳ Ｐゴシック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ja-JP" altLang="en-US">
                <a:ea typeface="ＭＳ Ｐゴシック"/>
                <a:cs typeface="Calibri"/>
              </a:rPr>
              <a:t>　→苦手な数字でなくイラストで把握可能</a:t>
            </a:r>
            <a:endParaRPr lang="ja-JP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7176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526FB-8C20-4982-159E-2667BA13B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ja-JP" b="0" dirty="0"/>
            </a:br>
            <a:br>
              <a:rPr lang="en-US" altLang="ja-JP" b="0" dirty="0">
                <a:ea typeface="BIZ UDPゴシック"/>
              </a:rPr>
            </a:br>
            <a:r>
              <a:rPr lang="ja-JP" altLang="en-US">
                <a:ea typeface="BIZ UDPゴシック"/>
              </a:rPr>
              <a:t>財布の中身把握</a:t>
            </a:r>
            <a:endParaRPr lang="en-US" b="0">
              <a:solidFill>
                <a:srgbClr val="FFFFFF"/>
              </a:solidFill>
              <a:ea typeface="BIZ UDPゴシック"/>
            </a:endParaRPr>
          </a:p>
          <a:p>
            <a:endParaRPr lang="en-US" b="0" dirty="0">
              <a:solidFill>
                <a:srgbClr val="FFFFFF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F7F03-5BB0-1A44-1B0F-43338B8A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71" t="1714" r="-454" b="-168"/>
          <a:stretch>
            <a:fillRect/>
          </a:stretch>
        </p:blipFill>
        <p:spPr>
          <a:xfrm>
            <a:off x="3522273" y="1816760"/>
            <a:ext cx="4821623" cy="50444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07206F-61A9-FB98-8180-9E0E6AB517CD}"/>
              </a:ext>
            </a:extLst>
          </p:cNvPr>
          <p:cNvCxnSpPr/>
          <p:nvPr/>
        </p:nvCxnSpPr>
        <p:spPr>
          <a:xfrm>
            <a:off x="6096000" y="2438400"/>
            <a:ext cx="3022600" cy="69850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7FE53D-8C96-77C3-2B36-9F4294FEF44B}"/>
              </a:ext>
            </a:extLst>
          </p:cNvPr>
          <p:cNvCxnSpPr/>
          <p:nvPr/>
        </p:nvCxnSpPr>
        <p:spPr>
          <a:xfrm flipH="1">
            <a:off x="9120842" y="2847122"/>
            <a:ext cx="1677" cy="28693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63BA8B-68AC-B9D5-EE6C-5C82DAB83BB8}"/>
              </a:ext>
            </a:extLst>
          </p:cNvPr>
          <p:cNvSpPr txBox="1"/>
          <p:nvPr/>
        </p:nvSpPr>
        <p:spPr>
          <a:xfrm>
            <a:off x="8332982" y="2295370"/>
            <a:ext cx="27432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>
                <a:ea typeface="ＭＳ Ｐゴシック"/>
                <a:cs typeface="Calibri"/>
              </a:rPr>
              <a:t>利用したお金を消すUI</a:t>
            </a:r>
          </a:p>
          <a:p>
            <a:pPr algn="ctr"/>
            <a:r>
              <a:rPr lang="ja-JP" altLang="en-US" sz="1200" b="1">
                <a:ea typeface="ＭＳ Ｐゴシック"/>
                <a:cs typeface="Calibri"/>
              </a:rPr>
              <a:t>(もう所持していないお金)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D64096-DCD2-DD9F-D0F7-CFBD6D2E79C0}"/>
              </a:ext>
            </a:extLst>
          </p:cNvPr>
          <p:cNvCxnSpPr/>
          <p:nvPr/>
        </p:nvCxnSpPr>
        <p:spPr>
          <a:xfrm>
            <a:off x="1730828" y="5736771"/>
            <a:ext cx="1992085" cy="127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2E7210-8E0B-CF20-7DDF-CF584232BF26}"/>
              </a:ext>
            </a:extLst>
          </p:cNvPr>
          <p:cNvCxnSpPr>
            <a:cxnSpLocks/>
          </p:cNvCxnSpPr>
          <p:nvPr/>
        </p:nvCxnSpPr>
        <p:spPr>
          <a:xfrm flipH="1">
            <a:off x="1730879" y="5449424"/>
            <a:ext cx="1677" cy="28693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6176D62-E241-7F87-33E9-0FBBA1955569}"/>
              </a:ext>
            </a:extLst>
          </p:cNvPr>
          <p:cNvSpPr txBox="1"/>
          <p:nvPr/>
        </p:nvSpPr>
        <p:spPr>
          <a:xfrm>
            <a:off x="281661" y="4797030"/>
            <a:ext cx="29876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>
                <a:ea typeface="ＭＳ Ｐゴシック"/>
                <a:cs typeface="Calibri"/>
              </a:rPr>
              <a:t>デフォルトの硬貨・紙幣</a:t>
            </a:r>
          </a:p>
          <a:p>
            <a:pPr algn="ctr"/>
            <a:r>
              <a:rPr lang="ja-JP" altLang="en-US">
                <a:ea typeface="ＭＳ Ｐゴシック"/>
                <a:cs typeface="Calibri"/>
              </a:rPr>
              <a:t>(ドラッグ&amp;ドロップで移動可)</a:t>
            </a:r>
            <a:endParaRPr lang="ja-JP" altLang="en-US" dirty="0">
              <a:ea typeface="ＭＳ Ｐゴシック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4FC80C-360D-4619-4FF1-C9023091430F}"/>
              </a:ext>
            </a:extLst>
          </p:cNvPr>
          <p:cNvCxnSpPr>
            <a:cxnSpLocks/>
          </p:cNvCxnSpPr>
          <p:nvPr/>
        </p:nvCxnSpPr>
        <p:spPr>
          <a:xfrm>
            <a:off x="2032752" y="2358091"/>
            <a:ext cx="1992085" cy="127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6CD3D8-3D8D-322B-F000-29996B5B3C52}"/>
              </a:ext>
            </a:extLst>
          </p:cNvPr>
          <p:cNvCxnSpPr>
            <a:cxnSpLocks/>
          </p:cNvCxnSpPr>
          <p:nvPr/>
        </p:nvCxnSpPr>
        <p:spPr>
          <a:xfrm flipH="1">
            <a:off x="2032803" y="2358292"/>
            <a:ext cx="1677" cy="286938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9133A0B-22FB-F12B-59C8-A7C5719F1F18}"/>
              </a:ext>
            </a:extLst>
          </p:cNvPr>
          <p:cNvSpPr txBox="1"/>
          <p:nvPr/>
        </p:nvSpPr>
        <p:spPr>
          <a:xfrm>
            <a:off x="540453" y="2697935"/>
            <a:ext cx="2987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>
                <a:ea typeface="ＭＳ Ｐゴシック"/>
                <a:cs typeface="Calibri"/>
              </a:rPr>
              <a:t>ホーム画面に戻るボタン(仮)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7C52F1-B621-C6C2-D80E-555F653E59AA}"/>
              </a:ext>
            </a:extLst>
          </p:cNvPr>
          <p:cNvCxnSpPr>
            <a:cxnSpLocks/>
          </p:cNvCxnSpPr>
          <p:nvPr/>
        </p:nvCxnSpPr>
        <p:spPr>
          <a:xfrm>
            <a:off x="7611167" y="4169638"/>
            <a:ext cx="1992085" cy="1270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F2C1082-4693-DCA1-FE78-ACA7F3CC8BFA}"/>
              </a:ext>
            </a:extLst>
          </p:cNvPr>
          <p:cNvSpPr txBox="1"/>
          <p:nvPr/>
        </p:nvSpPr>
        <p:spPr>
          <a:xfrm>
            <a:off x="8936831" y="399189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>
                <a:ea typeface="ＭＳ Ｐゴシック"/>
                <a:cs typeface="Calibri"/>
              </a:rPr>
              <a:t>管理画面</a:t>
            </a:r>
            <a:endParaRPr lang="ja-JP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16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0A6F-E8DD-3BA0-0970-28FBA226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ja-JP" altLang="en-US" dirty="0">
                <a:ea typeface="BIZ UDPゴシック"/>
              </a:rPr>
            </a:br>
            <a:r>
              <a:rPr lang="ja-JP" altLang="en-US">
                <a:ea typeface="BIZ UDPゴシック"/>
              </a:rPr>
              <a:t>財布の中身把握</a:t>
            </a:r>
            <a:endParaRPr lang="en-US" b="0">
              <a:ea typeface="BIZ UDPゴシック"/>
            </a:endParaRPr>
          </a:p>
          <a:p>
            <a:endParaRPr lang="en-US" dirty="0"/>
          </a:p>
        </p:txBody>
      </p:sp>
      <p:pic>
        <p:nvPicPr>
          <p:cNvPr id="4" name="abcd - SampleScene - iOS - Unity 2022.3.62f1 _DX11_ 2025-12-17 17-44-21">
            <a:hlinkClick r:id="" action="ppaction://media"/>
            <a:extLst>
              <a:ext uri="{FF2B5EF4-FFF2-40B4-BE49-F238E27FC236}">
                <a16:creationId xmlns:a16="http://schemas.microsoft.com/office/drawing/2014/main" id="{D32E1696-EA65-63E1-AAA9-E743F283A12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4159" end="4882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62973" y="1921773"/>
            <a:ext cx="9667336" cy="475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8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8967CD-31AB-69C7-D8D0-268325E9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お金クイズ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905EA-BAE8-16EB-DD40-2BD7B0755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/>
              <a:t>・紙幣や硬貨を表示して、それがいくらかを入力する。</a:t>
            </a:r>
            <a:endParaRPr kumimoji="1" lang="en-US" altLang="ja-JP"/>
          </a:p>
          <a:p>
            <a:pPr>
              <a:lnSpc>
                <a:spcPct val="150000"/>
              </a:lnSpc>
            </a:pPr>
            <a:r>
              <a:rPr lang="ja-JP" altLang="en-US"/>
              <a:t>・紙幣や硬貨の認識ができない人向け</a:t>
            </a:r>
            <a:endParaRPr lang="en-US" altLang="ja-JP"/>
          </a:p>
          <a:p>
            <a:r>
              <a:rPr kumimoji="1" lang="ja-JP" altLang="en-US"/>
              <a:t>（</a:t>
            </a:r>
            <a:r>
              <a:rPr kumimoji="1" lang="en-US" altLang="ja-JP"/>
              <a:t>500</a:t>
            </a:r>
            <a:r>
              <a:rPr kumimoji="1" lang="ja-JP" altLang="en-US"/>
              <a:t>円玉が</a:t>
            </a:r>
            <a:r>
              <a:rPr kumimoji="1" lang="en-US" altLang="ja-JP"/>
              <a:t>500</a:t>
            </a:r>
            <a:r>
              <a:rPr kumimoji="1" lang="ja-JP" altLang="en-US"/>
              <a:t>円ということが分からない）</a:t>
            </a:r>
          </a:p>
        </p:txBody>
      </p:sp>
    </p:spTree>
    <p:extLst>
      <p:ext uri="{BB962C8B-B14F-4D97-AF65-F5344CB8AC3E}">
        <p14:creationId xmlns:p14="http://schemas.microsoft.com/office/powerpoint/2010/main" val="215506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FAE7E-8071-3F95-36A9-454A2F1A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お金クイズ</a:t>
            </a:r>
          </a:p>
        </p:txBody>
      </p:sp>
      <p:pic>
        <p:nvPicPr>
          <p:cNvPr id="4" name="bio_test - OkaneKeisan - iOS - Unity 2022.3.62f1 _DX11_ 2025-12-12 15-58-13">
            <a:hlinkClick r:id="" action="ppaction://media"/>
            <a:extLst>
              <a:ext uri="{FF2B5EF4-FFF2-40B4-BE49-F238E27FC236}">
                <a16:creationId xmlns:a16="http://schemas.microsoft.com/office/drawing/2014/main" id="{16FB88F7-7E25-48B3-F0B7-48A4ED817A5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0700" y="1928813"/>
            <a:ext cx="8610600" cy="4233862"/>
          </a:xfrm>
        </p:spPr>
      </p:pic>
    </p:spTree>
    <p:extLst>
      <p:ext uri="{BB962C8B-B14F-4D97-AF65-F5344CB8AC3E}">
        <p14:creationId xmlns:p14="http://schemas.microsoft.com/office/powerpoint/2010/main" val="162775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B5C1-DB86-6B44-48D1-CC84054E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今後の展望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10AC7-BF12-B4A7-136B-EDA393C92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>
                <a:ea typeface="Calibri"/>
                <a:cs typeface="Calibri"/>
              </a:rPr>
              <a:t>・</a:t>
            </a:r>
            <a:r>
              <a:rPr lang="ja-JP" altLang="en-US">
                <a:ea typeface="Calibri"/>
                <a:cs typeface="Calibri"/>
              </a:rPr>
              <a:t>画像認識の精度を上げる。</a:t>
            </a:r>
            <a:endParaRPr lang="en-US" altLang="ja-JP"/>
          </a:p>
          <a:p>
            <a:pPr>
              <a:lnSpc>
                <a:spcPct val="150000"/>
              </a:lnSpc>
            </a:pPr>
            <a:r>
              <a:rPr lang="en-US" dirty="0">
                <a:ea typeface="Calibri"/>
                <a:cs typeface="Calibri"/>
              </a:rPr>
              <a:t>・</a:t>
            </a:r>
            <a:r>
              <a:rPr lang="ja-JP" altLang="en-US" dirty="0">
                <a:ea typeface="Calibri"/>
                <a:cs typeface="Calibri"/>
              </a:rPr>
              <a:t>各々で作成した機能</a:t>
            </a:r>
            <a:r>
              <a:rPr lang="ja-JP" altLang="en-US">
                <a:ea typeface="Calibri"/>
                <a:cs typeface="Calibri"/>
              </a:rPr>
              <a:t>を一つのアプリケーションに統合させる。</a:t>
            </a:r>
            <a:endParaRPr lang="en-US" altLang="ja-JP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575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空">
  <a:themeElements>
    <a:clrScheme name="天空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天空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天空</Template>
  <TotalTime>0</TotalTime>
  <Words>331</Words>
  <Application>Microsoft Office PowerPoint</Application>
  <PresentationFormat>ワイド画面</PresentationFormat>
  <Paragraphs>46</Paragraphs>
  <Slides>13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BIZ UDPゴシック</vt:lpstr>
      <vt:lpstr>ＭＳ Ｐゴシック</vt:lpstr>
      <vt:lpstr>Arial</vt:lpstr>
      <vt:lpstr>Calibri</vt:lpstr>
      <vt:lpstr>Calibri Light</vt:lpstr>
      <vt:lpstr>天空</vt:lpstr>
      <vt:lpstr>20251219 報告会</vt:lpstr>
      <vt:lpstr>活動内容</vt:lpstr>
      <vt:lpstr>硬貨検出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財布の中身把握</vt:lpstr>
      <vt:lpstr>  財布の中身把握  </vt:lpstr>
      <vt:lpstr> 財布の中身把握 </vt:lpstr>
      <vt:lpstr>お金クイズ</vt:lpstr>
      <vt:lpstr>お金クイズ</vt:lpstr>
      <vt:lpstr>今後の展望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三谷 恵梨香（g2330251）</dc:creator>
  <cp:lastModifiedBy>katsuma noma</cp:lastModifiedBy>
  <cp:revision>137</cp:revision>
  <dcterms:created xsi:type="dcterms:W3CDTF">2025-12-12T06:22:39Z</dcterms:created>
  <dcterms:modified xsi:type="dcterms:W3CDTF">2025-12-19T05:35:04Z</dcterms:modified>
</cp:coreProperties>
</file>